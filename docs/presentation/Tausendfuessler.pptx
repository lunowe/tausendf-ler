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Begrüßung und Vorstellung des Teams. Tausendfüßler ist unser Prototyp für das Modul Entwicklung verteilter Anwendungen: ein Webcrawler, der auf mehrere Prozesse verteilt ist und komplett über Telegram bedient wird. Der Vortrag folgt der vorgegebenen Struktur: Idee, Aufbau, Entwicklungsprozess, Demo, Code-Details, danach Probleme und Verbesserungspotenzial.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Kurz die Nutzersicht zeigen: Der ganze Crawler wird mit acht Chat-Befehlen bedient. Rechts ein nachgestellter Chatverlauf: /crawl mit Start-URL, Tiefe und optionalem Filter, dann der Live-Stream der gefundenen Seiten und am Ende der Report. Die 437 Seiten stammen aus dem Livetest vom 29.08. gegen eine echte Sitemap; Links- und Fehlerzahl im Mockup sind Beispielwerte. Ursprung der Idee: docs/Skizze_v2.pdf.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 Folie beantwortet die Bestehensvoraussetzung direkt: Nebenläufigkeit, Verteilung und komponentenbasierte REST-Services. Wichtig ist der Hinweis, dass die Socket-Kommunikation zwischen Koordinator und Worker liegt und REST zwischen Bot und Koordinator – anders als in der ersten Skizze, in der Bot und Koordinator ebenfalls per Socket sprechen sollten. Die dritte Spalte nennt die Einstiegspunkte für die Code-Fragen.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Vier Prozesstypen: Bot, Koordinator, n Worker und Postgres. Zwei eigene Schnittstellen: REST vom Bot zum Koordinator und TCP mit zeilenweisem JSON zwischen Koordinator und Workern; der Telegram-Verkehr ist ein externer Dienst. Wichtig für Nachfragen: Worker öffnen die Verbindung, deshalb reicht ein einziger offener Port am Koordinator, und Worker können auf beliebigen Rechnern laufen. Details in README.md und PROTOCOL.md.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Links die REST-Schnittstelle, rechts die Socket-Nachrichtentypen. Auf Nachfrage den Ablauf aus PROTOCOL.md erklären: REGISTER, dann REQUEST_WORK, WORK_PACKAGE, PAGE_RESULT im Kreis; PAUSE und ABORT werden vom Koordinator gepusht, ohne dass der Worker fragt. Code: common/.../protocol/Message.java (sealed interface mit Records) und ProtocolJson.java.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Zum Vorführen öffnen: coordinator/src/main/java/.../crawl/JobRuntime.java (Frontier, visited, inFlight, synchronized takeWork/complete/requeue/isFinished), crawl/Scheduler.java (assign), socket/WorkerConnectionHandler.java (Zeilenschleife, Read-Timeout, requeue bei EOF) und service/ResultService.java (handle). Kernaussage: Dedup ist atomar über visited.add(), die Verbundoperationen sind über den Monitor des JobRuntime serialisiert. Tests: JobRuntimeTest, SchedulerTest, WorkerSocketServerTest, EndToEndTest.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Öffnen: worker/.../WorkerClient.java (runSession, readMessages, submit/complete), CrawlTask.java (awaitPermission mit Pause-Schleife) und pool/CrawlExecutor.java. Der Crawl-Kern (PageFetcher, HtmlExtractor, CrawlExecutor) stammt von Kanan; die Socket-Schleife und die Signalbehandlung kamen bei der Integration dazu. Für die NFA 'Thread-Pool liefert alles': CrawlExecutorTest.handlesHighVolumeConcurrentCrawls – 100 URLs auf 4 Threads, exakt 100 Ergebnisse.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Öffnen: bot/.../TausflerBot.java (onUpdateReceived, Dispatch über die Registry), config/CommandRegistry.java (Namenskonvention), commands/CrawlCommandHandler.java und service/ResultPoller.java (pollJob mit seq-Cursor und Report). Das Bot-Skelett mit Registry und Handlern hat unser Bot-Teammitglied gebaut; der seq-Cursor, das Bündeln der Nachrichten und die Fehlerübersetzung kamen beim Integrieren dazu. Tests: ResultPollerTest, CoordinatorClientTest.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ist die Spickzettel-Folie für die Detailfragen: jede Zeile nennt das Problem, das verwendete Java-Primitive und die Klasse. Bei Nachfragen zur Thread-Sicherheit auf JobRuntime verweisen: die Collections sind concurrent, die Verbundoperationen synchronized. Beim Lost Update erklären, dass Statuswechsel und Ergebnisverarbeitung denselben Monitor nehmen, weil beide die Job-Zeile per load-update-save schreiben.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Ehrlich darstellen, wer was gemacht hat: Kanan hat im Mai/Juli den Crawl-Kern des Workers mit Tests gebaut, das Bot-Teammitglied im August das Bot-Skelett mit Registry, Handlern und erstem Poller, Luca am 29.08. den Koordinator, das gemeinsame Protokoll, die Integration in ein Multimodul-Repo, den Lasttest und die Fixes – dabei mit KI-Werkzeugen (Claude Code, Codex) als Pair-Programmer. Vor dem Vortrag den Platzhalter TODO durch den Namen ersetzen (git log --format='%an %s').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Zahlen stammen aus docs/NFA-Report.md, erzeugt vom loadtest-Modul gegen den echten Stack mit Postgres. Das Skalierungsergebnis ehrlich einordnen: mit realistischer Abruflatenz skaliert es fast linear, ohne Latenz bremst der serialisierte Ergebnispfad im Koordinator. Auf Nachfrage: loadtest/.../scenario/ThroughputScenario.java und DedupScenario.java.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Reihenfolge der Demo: Stack starten, Crawl mit Live-Stream, Pause/Resume, dann einen Worker hart beenden, um die Recovery zu zeigen, zuletzt Abort mit erhaltenen Ergebnissen. Wenn etwas hängt, sofort auf Screenshots und Logs ausweichen; der EndToEndTest läuft ohne Netz und ohne Docker gegen H2. Vorher prüfen: Bot-Token gültig, Port 5433 frei, keine fremden Worker verbunden.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größte Hürde war organisatorisch: drei Teilprojekte mit unterschiedlichen Annahmen, die erst am Ende zusammengeführt wurden. Technisch am lehrreichsten war der Lost Update beim Job-Status, ein klassisches Nebenläufigkeitsproblem zwischen REST-Thread und Worker-Handler-Thread. Die Zeilen entsprechen den Commits 'Review-Fixes: Status-Race, Handler-Robustheit, Live-Stream, Redirect-Basis-URL' und 'End-to-End-Test und Fix für Worker-Überzuteilung'.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wichtigste Verbesserungspotenzial ist messbar: die Serialisierung des Ergebnispfads im Koordinator begrenzt den Durchsatz ohne Netzlatenz. Danach die Live-Ausspielung per SSE statt Polling und ein echter Heartbeat. Auf der Funktionsseite sind Owner-Filter für /search, die Semantik von currentDepth und der JSON-Export aus der Skizze noch offen.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Abschluss in einem Satz: ein verteilter Crawler mit klarer Rollenteilung der Prozesse, dessen nicht-funktionale Anforderungen nicht behauptet, sondern gemessen sind. Dann zur Fragerunde überleiten und die Code-Detail-Folien 6 bis 9 als Einstieg für die Nachfragen anbieten.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3900000">
            <a:off x="1874519" y="594360"/>
            <a:ext cx="457200" cy="5669280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5394960"/>
            <a:ext cx="274320" cy="1463040"/>
          </a:xfrm>
          <a:prstGeom prst="rect">
            <a:avLst/>
          </a:prstGeom>
          <a:solidFill>
            <a:srgbClr val="8A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0" y="1737360"/>
            <a:ext cx="6766560" cy="41148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PROTOTYP · ENTWICKLUNG VERTEILTER ANWENDUNGEN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148840"/>
            <a:ext cx="6766560" cy="1188720"/>
          </a:xfrm>
          <a:prstGeom prst="rect">
            <a:avLst/>
          </a:prstGeom>
          <a:noFill/>
        </p:spPr>
        <p:txBody>
          <a:bodyPr wrap="square" anchor="ctr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5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Tausendfüßler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3383280"/>
            <a:ext cx="6766560" cy="82296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Ein verteilter Webcrawler, gesteuert über einen Telegram-Bot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4754880"/>
            <a:ext cx="6766560" cy="109728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Kanan Namazov · &lt;TODO: Name Bot-Entwickler/in&gt; · Luca Wegner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Universität Leipzig · Institut für Wirtschaftsinformatik · Dr. Pascal Kovacs · SS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1234440"/>
          </a:xfrm>
          <a:prstGeom prst="rect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8016" cy="201168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1 · IDEE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Die Idee: Crawlen per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11535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Ein Telegram-Chat als einzige Oberfläche für einen verteilten Crawler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Tausendfüßler · EVA SS26 · Universität Leipzig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6492240" cy="475488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 marL="237490" indent="-237490">
              <a:lnSpc>
                <a:spcPct val="112000"/>
              </a:lnSpc>
              <a:spcAft>
                <a:spcPts val="1000"/>
              </a:spcAft>
              <a:buClr>
                <a:srgbClr val="B02F2C"/>
              </a:buClr>
              <a:buFont typeface="Arial"/>
              <a:buChar char="–"/>
            </a:pPr>
            <a:r>
              <a:rPr sz="17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Nutzer schickt </a:t>
            </a:r>
            <a:r>
              <a:rPr sz="1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/crawl &lt;URL&gt; &lt;Tiefe&gt; [Filter …]</a:t>
            </a:r>
            <a:r>
              <a:rPr sz="17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an den Bot</a:t>
            </a:r>
          </a:p>
          <a:p>
            <a:pPr algn="l" marL="237490" indent="-237490">
              <a:lnSpc>
                <a:spcPct val="112000"/>
              </a:lnSpc>
              <a:spcAft>
                <a:spcPts val="1000"/>
              </a:spcAft>
              <a:buClr>
                <a:srgbClr val="B02F2C"/>
              </a:buClr>
              <a:buFont typeface="Arial"/>
              <a:buChar char="–"/>
            </a:pPr>
            <a:r>
              <a:rPr sz="17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Koordinator verteilt die URLs auf beliebig viele </a:t>
            </a:r>
            <a:r>
              <a:rPr sz="1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Worker-Prozesse</a:t>
            </a:r>
          </a:p>
          <a:p>
            <a:pPr algn="l" marL="237490" indent="-237490">
              <a:lnSpc>
                <a:spcPct val="112000"/>
              </a:lnSpc>
              <a:spcAft>
                <a:spcPts val="1000"/>
              </a:spcAft>
              <a:buClr>
                <a:srgbClr val="B02F2C"/>
              </a:buClr>
              <a:buFont typeface="Arial"/>
              <a:buChar char="–"/>
            </a:pPr>
            <a:r>
              <a:rPr sz="17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Gefundene Seiten kommen als </a:t>
            </a:r>
            <a:r>
              <a:rPr sz="1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Live-Stream</a:t>
            </a:r>
            <a:r>
              <a:rPr sz="17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(URL, Titel, Textanfang) zurück in den Chat</a:t>
            </a:r>
          </a:p>
          <a:p>
            <a:pPr algn="l" marL="237490" indent="-237490">
              <a:lnSpc>
                <a:spcPct val="112000"/>
              </a:lnSpc>
              <a:spcAft>
                <a:spcPts val="1000"/>
              </a:spcAft>
              <a:buClr>
                <a:srgbClr val="B02F2C"/>
              </a:buClr>
              <a:buFont typeface="Arial"/>
              <a:buChar char="–"/>
            </a:pPr>
            <a:r>
              <a:rPr sz="1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/pause</a:t>
            </a:r>
            <a:r>
              <a:rPr sz="17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, </a:t>
            </a:r>
            <a:r>
              <a:rPr sz="1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/resume</a:t>
            </a:r>
            <a:r>
              <a:rPr sz="17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, </a:t>
            </a:r>
            <a:r>
              <a:rPr sz="1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/abort</a:t>
            </a:r>
            <a:r>
              <a:rPr sz="17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greifen in laufende Aufträge ein – Ergebnisse bleiben erhalten</a:t>
            </a:r>
          </a:p>
          <a:p>
            <a:pPr algn="l" marL="237490" indent="-237490">
              <a:lnSpc>
                <a:spcPct val="112000"/>
              </a:lnSpc>
              <a:spcAft>
                <a:spcPts val="1000"/>
              </a:spcAft>
              <a:buClr>
                <a:srgbClr val="B02F2C"/>
              </a:buClr>
              <a:buFont typeface="Arial"/>
              <a:buChar char="–"/>
            </a:pPr>
            <a:r>
              <a:rPr sz="17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Nach Abschluss: </a:t>
            </a:r>
            <a:r>
              <a:rPr sz="1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Report</a:t>
            </a:r>
            <a:r>
              <a:rPr sz="17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mit Seiten, Links, Fehlern und Dauer</a:t>
            </a:r>
          </a:p>
          <a:p>
            <a:pPr algn="l" marL="237490" indent="-237490">
              <a:lnSpc>
                <a:spcPct val="112000"/>
              </a:lnSpc>
              <a:spcAft>
                <a:spcPts val="1000"/>
              </a:spcAft>
              <a:buClr>
                <a:srgbClr val="B02F2C"/>
              </a:buClr>
              <a:buFont typeface="Arial"/>
              <a:buChar char="–"/>
            </a:pPr>
            <a:r>
              <a:rPr sz="17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Dazu </a:t>
            </a:r>
            <a:r>
              <a:rPr sz="1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/list</a:t>
            </a:r>
            <a:r>
              <a:rPr sz="17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, </a:t>
            </a:r>
            <a:r>
              <a:rPr sz="1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/status</a:t>
            </a:r>
            <a:r>
              <a:rPr sz="17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, </a:t>
            </a:r>
            <a:r>
              <a:rPr sz="1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/search</a:t>
            </a:r>
            <a:r>
              <a:rPr sz="17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(Volltext über alle Ergebnisse) und </a:t>
            </a:r>
            <a:r>
              <a:rPr sz="1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/stats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417320"/>
            <a:ext cx="4023360" cy="4663440"/>
          </a:xfrm>
          <a:prstGeom prst="roundRect">
            <a:avLst>
              <a:gd name="adj" fmla="val 3409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59" y="150876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Telegram · @TausflerBot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828800"/>
            <a:ext cx="3200400" cy="384048"/>
          </a:xfrm>
          <a:prstGeom prst="roundRect">
            <a:avLst>
              <a:gd name="adj" fmla="val 15000"/>
            </a:avLst>
          </a:prstGeom>
          <a:solidFill>
            <a:srgbClr val="8A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5000"/>
              </a:lnSpc>
              <a:buNone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/crawl https://example.org 2 blog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59" y="2331720"/>
            <a:ext cx="32004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5000"/>
              </a:lnSpc>
              <a:buNone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Auftrag gestartet</a:t>
            </a:r>
          </a:p>
          <a:p>
            <a:pPr algn="l">
              <a:lnSpc>
                <a:spcPct val="105000"/>
              </a:lnSpc>
              <a:buNone/>
            </a:pPr>
            <a:r>
              <a:rPr sz="8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Job 3f9a… · Tiefe 2 · Filter: blog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59" y="3017520"/>
            <a:ext cx="3200400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5000"/>
              </a:lnSpc>
              <a:buNone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example.org/blog/ – Blog</a:t>
            </a:r>
          </a:p>
          <a:p>
            <a:pPr algn="l">
              <a:lnSpc>
                <a:spcPct val="105000"/>
              </a:lnSpc>
              <a:buNone/>
            </a:pPr>
            <a:r>
              <a:rPr sz="8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„Neuigkeiten aus dem Projekt …“</a:t>
            </a:r>
          </a:p>
          <a:p>
            <a:pPr algn="l">
              <a:lnSpc>
                <a:spcPct val="105000"/>
              </a:lnSpc>
              <a:buNone/>
            </a:pPr>
            <a:r>
              <a:rPr sz="8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example.org/blog/2026 – Archiv</a:t>
            </a:r>
          </a:p>
          <a:p>
            <a:pPr algn="l">
              <a:lnSpc>
                <a:spcPct val="105000"/>
              </a:lnSpc>
              <a:buNone/>
            </a:pPr>
            <a:r>
              <a:rPr sz="8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„Alle Beiträge des Jahres …“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4206240"/>
            <a:ext cx="3200400" cy="384048"/>
          </a:xfrm>
          <a:prstGeom prst="roundRect">
            <a:avLst>
              <a:gd name="adj" fmla="val 15000"/>
            </a:avLst>
          </a:prstGeom>
          <a:solidFill>
            <a:srgbClr val="8A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5000"/>
              </a:lnSpc>
              <a:buNone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/status 3f9a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59" y="4709160"/>
            <a:ext cx="3200400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5000"/>
              </a:lnSpc>
              <a:buNone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Report – abgeschlossen</a:t>
            </a:r>
          </a:p>
          <a:p>
            <a:pPr algn="l">
              <a:lnSpc>
                <a:spcPct val="105000"/>
              </a:lnSpc>
              <a:buNone/>
            </a:pPr>
            <a:r>
              <a:rPr sz="8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437 Seiten · 5 210 Links · 3 Fehler</a:t>
            </a:r>
          </a:p>
          <a:p>
            <a:pPr algn="l">
              <a:lnSpc>
                <a:spcPct val="105000"/>
              </a:lnSpc>
              <a:buNone/>
            </a:pPr>
            <a:r>
              <a:rPr sz="8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Dauer 1 min 52 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1234440"/>
          </a:xfrm>
          <a:prstGeom prst="rect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8016" cy="201168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1 · IDEE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Die drei Modulanforderungen und wo sie erfüllt sind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Tausendfüßler · EVA SS26 · Universität Leipzig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417320"/>
          <a:ext cx="10911534" cy="1828800"/>
        </p:xfrm>
        <a:graphic>
          <a:graphicData uri="http://schemas.openxmlformats.org/drawingml/2006/table">
            <a:tbl>
              <a:tblPr firstRow="0" bandRow="0"/>
              <a:tblGrid>
                <a:gridCol w="2338186"/>
                <a:gridCol w="4936170"/>
                <a:gridCol w="3637178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Anforderung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Umsetzung im Prototyp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Ort im Code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Nebenläufig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Thread-Pool je Worker (Größe = CPU-Kerne); ein Handler-Thread je Worker-Verbindung im Koordinator; Bot pollt nebenläufig per @Scheduled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worker/pool/CrawlExecutor · coordinator/socket/WorkerSocketServer · bot/service/ResultPoller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Verteilt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Koordinator – Worker über persistente TCP-Sockets (Port 9090, line-delimited JSON); Worker sind eigenständige JVM-Prozesse, auch auf anderen Rechnern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common/protocol/Message · coordinator/socket/* · worker/net/CoordinatorConnection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Komponentenbasiert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Koordinator als Spring-Boot-REST-Service (Port 8080, Spring MVC + Data JPA); Bot als Spring-Boot-Client mit DI und Command-Registry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coordinator/api/*Controller · bot/config/CommandRegistry · bot/service/CoordinatorClient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480560"/>
            <a:ext cx="10911535" cy="10058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Dazu aus der Skizze: Least-Work-First-Verteilung, thread-sichere URL-Deduplizierung, Absturz-Erkennung mit Re-Queue, Live-Ergebnisse in unter 2 s, Persistenz und Volltextsuche in Postgres, Retention-Cleanup beim Start (Standard 30 Tage).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1234440"/>
          </a:xfrm>
          <a:prstGeom prst="rect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8016" cy="201168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2 · AUFBAU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Architektur: vier Prozesstypen, zwei Schnittstellen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Tausendfüßler · EVA SS26 · Universität Leipzig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8A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  <a:buNone/>
            </a:pP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Telegram</a:t>
            </a:r>
          </a:p>
          <a:p>
            <a:pPr algn="ctr">
              <a:lnSpc>
                <a:spcPct val="105000"/>
              </a:lnSpc>
              <a:buNone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externer Dienst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301752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26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  <a:buNone/>
            </a:pPr>
            <a:r>
              <a:rPr sz="1400" b="1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Bot</a:t>
            </a:r>
          </a:p>
          <a:p>
            <a:pPr algn="ctr">
              <a:lnSpc>
                <a:spcPct val="105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Spring Boot, kein Web-Server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2514600"/>
            <a:ext cx="2926080" cy="2011680"/>
          </a:xfrm>
          <a:prstGeom prst="roundRect">
            <a:avLst>
              <a:gd name="adj" fmla="val 5454"/>
            </a:avLst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  <a:buNone/>
            </a:pPr>
            <a:r>
              <a:rPr sz="1600" b="1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Koordinator</a:t>
            </a:r>
          </a:p>
          <a:p>
            <a:pPr algn="ctr">
              <a:lnSpc>
                <a:spcPct val="105000"/>
              </a:lnSpc>
              <a:buNone/>
            </a:pPr>
            <a:r>
              <a:rPr sz="130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Spring Boot: REST-API + TCP-Server</a:t>
            </a:r>
          </a:p>
          <a:p>
            <a:pPr algn="ctr">
              <a:lnSpc>
                <a:spcPct val="105000"/>
              </a:lnSpc>
              <a:buNone/>
            </a:pPr>
            <a:r>
              <a:rPr sz="130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Job-Queue · Frontier · Dedup</a:t>
            </a:r>
          </a:p>
          <a:p>
            <a:pPr algn="ctr">
              <a:lnSpc>
                <a:spcPct val="105000"/>
              </a:lnSpc>
              <a:buNone/>
            </a:pPr>
            <a:r>
              <a:rPr sz="130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Least-Work-First · Worker-Registry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155448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26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  <a:buNone/>
            </a:pPr>
            <a:r>
              <a:rPr sz="1400" b="1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Worker 1</a:t>
            </a:r>
          </a:p>
          <a:p>
            <a:pPr algn="ctr">
              <a:lnSpc>
                <a:spcPct val="105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Plain Java · Thread-Pool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30175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26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  <a:buNone/>
            </a:pPr>
            <a:r>
              <a:rPr sz="1400" b="1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Worker 2</a:t>
            </a:r>
          </a:p>
          <a:p>
            <a:pPr algn="ctr">
              <a:lnSpc>
                <a:spcPct val="105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Plain Java · Thread-Pool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448056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26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  <a:buNone/>
            </a:pPr>
            <a:r>
              <a:rPr sz="1400" b="1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Worker n</a:t>
            </a:r>
          </a:p>
          <a:p>
            <a:pPr algn="ctr">
              <a:lnSpc>
                <a:spcPct val="105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Plain Java · Thread-Pool</a:t>
            </a:r>
          </a:p>
        </p:txBody>
      </p:sp>
      <p:sp>
        <p:nvSpPr>
          <p:cNvPr id="15" name="Can 14"/>
          <p:cNvSpPr/>
          <p:nvPr/>
        </p:nvSpPr>
        <p:spPr>
          <a:xfrm>
            <a:off x="6126480" y="5029200"/>
            <a:ext cx="1645920" cy="960120"/>
          </a:xfrm>
          <a:prstGeom prst="can">
            <a:avLst/>
          </a:prstGeom>
          <a:solidFill>
            <a:srgbClr val="8A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  <a:buNone/>
            </a:pPr>
            <a:r>
              <a:rPr sz="13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Postgres</a:t>
            </a:r>
          </a:p>
          <a:p>
            <a:pPr algn="ctr">
              <a:lnSpc>
                <a:spcPct val="105000"/>
              </a:lnSpc>
              <a:buNone/>
            </a:pPr>
            <a:r>
              <a:rPr sz="10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Jobs · Seiten · Volltext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11680" y="3520440"/>
            <a:ext cx="640080" cy="0"/>
          </a:xfrm>
          <a:prstGeom prst="line">
            <a:avLst/>
          </a:prstGeom>
          <a:ln w="22225">
            <a:solidFill>
              <a:srgbClr val="262A31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63040" y="2834640"/>
            <a:ext cx="1737360" cy="41148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9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Bot-API, HTTPS Long Polling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3520440"/>
            <a:ext cx="1005840" cy="0"/>
          </a:xfrm>
          <a:prstGeom prst="line">
            <a:avLst/>
          </a:prstGeom>
          <a:ln w="22225">
            <a:solidFill>
              <a:srgbClr val="B02F2C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0" y="306324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900" b="0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REST :8080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503920" y="1965960"/>
            <a:ext cx="1280160" cy="1554480"/>
          </a:xfrm>
          <a:prstGeom prst="line">
            <a:avLst/>
          </a:prstGeom>
          <a:ln w="22225">
            <a:solidFill>
              <a:srgbClr val="B02F2C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503920" y="3429000"/>
            <a:ext cx="1280160" cy="91440"/>
          </a:xfrm>
          <a:prstGeom prst="line">
            <a:avLst/>
          </a:prstGeom>
          <a:ln w="22225">
            <a:solidFill>
              <a:srgbClr val="B02F2C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03920" y="3520440"/>
            <a:ext cx="1280160" cy="1371600"/>
          </a:xfrm>
          <a:prstGeom prst="line">
            <a:avLst/>
          </a:prstGeom>
          <a:ln w="22225">
            <a:solidFill>
              <a:srgbClr val="B02F2C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03920" y="1920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900" b="0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TCP :9090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1488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900" b="0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JSON je Zeile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49440" y="4526280"/>
            <a:ext cx="0" cy="502920"/>
          </a:xfrm>
          <a:prstGeom prst="line">
            <a:avLst/>
          </a:prstGeom>
          <a:ln w="22225">
            <a:solidFill>
              <a:srgbClr val="262A31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040880" y="46177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9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JPA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5120640" cy="9601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Worker verbinden sich </a:t>
            </a:r>
            <a:r>
              <a:rPr sz="1300" b="1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zum</a:t>
            </a: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 Koordinator und </a:t>
            </a:r>
            <a:r>
              <a:rPr sz="1300" b="1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holen</a:t>
            </a: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 Arbeit ab (Pull).</a:t>
            </a:r>
          </a:p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Der Koordinator </a:t>
            </a:r>
            <a:r>
              <a:rPr sz="1300" b="1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pusht</a:t>
            </a: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 nur Steuersignale (PAUSE / RESUME / ABORT).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486400"/>
            <a:ext cx="3017520" cy="64008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Modul </a:t>
            </a:r>
            <a:r>
              <a:rPr sz="1000" b="0" i="0">
                <a:solidFill>
                  <a:srgbClr val="6E737A"/>
                </a:solidFill>
                <a:latin typeface="Menlo"/>
                <a:ea typeface="Menlo"/>
                <a:cs typeface="Menlo"/>
              </a:rPr>
              <a:t>common</a:t>
            </a:r>
            <a:r>
              <a:rPr sz="11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: </a:t>
            </a:r>
            <a:r>
              <a:rPr sz="1000" b="0" i="0">
                <a:solidFill>
                  <a:srgbClr val="6E737A"/>
                </a:solidFill>
                <a:latin typeface="Menlo"/>
                <a:ea typeface="Menlo"/>
                <a:cs typeface="Menlo"/>
              </a:rPr>
              <a:t>Message</a:t>
            </a:r>
            <a:r>
              <a:rPr sz="11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-Records + Jackson als gemeinsames Protokoll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1234440"/>
          </a:xfrm>
          <a:prstGeom prst="rect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8016" cy="201168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2 · AUFBAU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Zwei Protokolle: REST für den Bot, Socket für die Worker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Tausendfüßler · EVA SS26 · Universität Leipzig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440680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REST-API des Koordinators (Spring MVC, :8080)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91640"/>
          <a:ext cx="5440679" cy="2560320"/>
        </p:xfrm>
        <a:graphic>
          <a:graphicData uri="http://schemas.openxmlformats.org/drawingml/2006/table">
            <a:tbl>
              <a:tblPr firstRow="0" bandRow="0"/>
              <a:tblGrid>
                <a:gridCol w="735227"/>
                <a:gridCol w="2205681"/>
                <a:gridCol w="2499771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HTTP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Pfad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Zweck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POST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/api/jobs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Auftrag anlegen {url, maxDepth, filters, owner}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GET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/api/jobs?owner=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eigene Aufträge (/list)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GET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/api/jobs/{id}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Detail: Status, Tiefe, Seiten, Links, Fehler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GET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/api/jobs/{id}/results?afterSeq=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Live-Stream-Seite, aufsteigend nach seq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POST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/api/jobs/{id}/pause | resume | abort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Steuerung: 204, bei ungültigem Übergang 409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GET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/api/search?q= · /api/stats · /api/health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Volltextsuche, Statistik, Startzeit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46520" y="1371600"/>
            <a:ext cx="5105095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Socket-Protokoll Koordinator – Worker (TCP :9090)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46520" y="1691640"/>
          <a:ext cx="5105094" cy="2560320"/>
        </p:xfrm>
        <a:graphic>
          <a:graphicData uri="http://schemas.openxmlformats.org/drawingml/2006/table">
            <a:tbl>
              <a:tblPr firstRow="0" bandRow="0"/>
              <a:tblGrid>
                <a:gridCol w="729299"/>
                <a:gridCol w="2430997"/>
                <a:gridCol w="1944798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Richtung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type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Bedeutung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W → 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REGISTER {workerId, threads}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Handshake nach Connect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W → K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REQUEST_WORK {capacity}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freie Slots melden (Pull)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K → 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WORK_PACKAGE {jobId, depth, urls[]}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≤ min(capacity, 2 · threads) URLs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K → W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NO_WORK {retryAfterMs}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später erneut fragen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W → 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PAGE_RESULT {url, title, links[], error}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ein Ergebnis je URL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K → W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JOB_SIGNAL {PAUSE | RESUME | ABORT}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Push, jederzeit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" y="4754880"/>
            <a:ext cx="10911535" cy="109728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 marL="181610" indent="-181610">
              <a:lnSpc>
                <a:spcPct val="112000"/>
              </a:lnSpc>
              <a:spcAft>
                <a:spcPts val="400"/>
              </a:spcAft>
              <a:buClr>
                <a:srgbClr val="B02F2C"/>
              </a:buClr>
              <a:buFont typeface="Arial"/>
              <a:buChar char="–"/>
            </a:pP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Beide Schnittstellen sind JSON; die Socket-Typen sind Records hinter einem </a:t>
            </a:r>
            <a:r>
              <a:rPr sz="1200" b="0" i="0">
                <a:solidFill>
                  <a:srgbClr val="6E737A"/>
                </a:solidFill>
                <a:latin typeface="Menlo"/>
                <a:ea typeface="Menlo"/>
                <a:cs typeface="Menlo"/>
              </a:rPr>
              <a:t>sealed interface</a:t>
            </a: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 in </a:t>
            </a:r>
            <a:r>
              <a:rPr sz="1200" b="0" i="0">
                <a:solidFill>
                  <a:srgbClr val="6E737A"/>
                </a:solidFill>
                <a:latin typeface="Menlo"/>
                <a:ea typeface="Menlo"/>
                <a:cs typeface="Menlo"/>
              </a:rPr>
              <a:t>common</a:t>
            </a: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 (Jackson, Diskriminator </a:t>
            </a:r>
            <a:r>
              <a:rPr sz="1200" b="0" i="0">
                <a:solidFill>
                  <a:srgbClr val="6E737A"/>
                </a:solidFill>
                <a:latin typeface="Menlo"/>
                <a:ea typeface="Menlo"/>
                <a:cs typeface="Menlo"/>
              </a:rPr>
              <a:t>type</a:t>
            </a: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).</a:t>
            </a:r>
          </a:p>
          <a:p>
            <a:pPr algn="l" marL="181610" indent="-181610">
              <a:lnSpc>
                <a:spcPct val="112000"/>
              </a:lnSpc>
              <a:spcAft>
                <a:spcPts val="400"/>
              </a:spcAft>
              <a:buClr>
                <a:srgbClr val="B02F2C"/>
              </a:buClr>
              <a:buFont typeface="Arial"/>
              <a:buChar char="–"/>
            </a:pP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Der Live-Stream ist ein Cursor: </a:t>
            </a:r>
            <a:r>
              <a:rPr sz="1200" b="0" i="0">
                <a:solidFill>
                  <a:srgbClr val="6E737A"/>
                </a:solidFill>
                <a:latin typeface="Menlo"/>
                <a:ea typeface="Menlo"/>
                <a:cs typeface="Menlo"/>
              </a:rPr>
              <a:t>seq</a:t>
            </a: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 steigt pro Job streng monoton, der Bot fragt jede Sekunde </a:t>
            </a:r>
            <a:r>
              <a:rPr sz="1200" b="0" i="0">
                <a:solidFill>
                  <a:srgbClr val="6E737A"/>
                </a:solidFill>
                <a:latin typeface="Menlo"/>
                <a:ea typeface="Menlo"/>
                <a:cs typeface="Menlo"/>
              </a:rPr>
              <a:t>results?afterSeq=&lt;zuletzt gesehen&gt;</a:t>
            </a: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 ab.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1234440"/>
          </a:xfrm>
          <a:prstGeom prst="rect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8016" cy="201168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5 · CODE-DETAILS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Koordinator: Zustand pro Job, ein Thread pro Worker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11535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coordinator/…/crawl/JobRuntime · crawl/Scheduler · socket/WorkerConnectionHandler · service/ResultService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Tausendfüßler · EVA SS26 · Universität Leipzig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852160" cy="475488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 marL="195580" indent="-19558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JobRuntime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(In-Memory je laufendem Job): Frontier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ConcurrentSkipListMap&lt;Tiefe, Queue&gt;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, Dedup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ConcurrentHashMap.newKeySet()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, In-Flight-Map URL → (Worker, Tiefe)</a:t>
            </a:r>
          </a:p>
          <a:p>
            <a:pPr algn="l" marL="195580" indent="-19558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Verbundoperationen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takeWork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,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complete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,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requeue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,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isFinished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sind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synchronized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: ein Job gilt nie als fertig, während eine URL zwischen Frontier und In-Flight ist</a:t>
            </a:r>
          </a:p>
          <a:p>
            <a:pPr algn="l" marL="195580" indent="-19558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Scheduler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: Worker pullen, sobald Slots frei sind – der am wenigsten belastete Worker fragt am häufigsten (Least-Work-First); Jobs werden Round-Robin bedient</a:t>
            </a:r>
          </a:p>
          <a:p>
            <a:pPr algn="l" marL="195580" indent="-19558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WorkerSocketServer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: Accept-Thread +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CachedThreadPool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, ein </a:t>
            </a: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WorkerConnectionHandler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je Verbindung; Read-Timeout 60 s ⇒ Absturz erkannt ⇒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requeue(workerId)</a:t>
            </a:r>
          </a:p>
          <a:p>
            <a:pPr algn="l" marL="195580" indent="-19558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ResultService.handle()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: unter dem Runtime-Monitor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seq++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, Seite speichern, Links in die Frontier, Zähler, COMPLETED-Prüfung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417320"/>
            <a:ext cx="4693615" cy="548640"/>
          </a:xfrm>
          <a:prstGeom prst="roundRect">
            <a:avLst>
              <a:gd name="adj" fmla="val 15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5000"/>
              </a:lnSpc>
              <a:buNone/>
            </a:pPr>
            <a:r>
              <a:rPr sz="13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PAGE_RESULT</a:t>
            </a:r>
          </a:p>
          <a:p>
            <a:pPr algn="l">
              <a:lnSpc>
                <a:spcPct val="105000"/>
              </a:lnSpc>
              <a:buNone/>
            </a:pPr>
            <a:r>
              <a:rPr sz="10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vom Handler-Thread des Workers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204807" y="1965960"/>
            <a:ext cx="0" cy="164592"/>
          </a:xfrm>
          <a:prstGeom prst="line">
            <a:avLst/>
          </a:prstGeom>
          <a:ln w="15875">
            <a:solidFill>
              <a:srgbClr val="6E73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0" y="2130552"/>
            <a:ext cx="4693615" cy="548640"/>
          </a:xfrm>
          <a:prstGeom prst="roundRect">
            <a:avLst>
              <a:gd name="adj" fmla="val 15000"/>
            </a:avLst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5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synchronized (runtime)</a:t>
            </a:r>
          </a:p>
          <a:p>
            <a:pPr algn="l">
              <a:lnSpc>
                <a:spcPct val="105000"/>
              </a:lnSpc>
              <a:buNone/>
            </a:pPr>
            <a:r>
              <a:rPr sz="100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Monitor des JobRuntime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04807" y="2679192"/>
            <a:ext cx="0" cy="164592"/>
          </a:xfrm>
          <a:prstGeom prst="line">
            <a:avLst/>
          </a:prstGeom>
          <a:ln w="15875">
            <a:solidFill>
              <a:srgbClr val="6E73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0" y="2843784"/>
            <a:ext cx="4693615" cy="548640"/>
          </a:xfrm>
          <a:prstGeom prst="roundRect">
            <a:avLst>
              <a:gd name="adj" fmla="val 15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5000"/>
              </a:lnSpc>
              <a:buNone/>
            </a:pPr>
            <a:r>
              <a:rPr sz="13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complete(url) · nextSeq()</a:t>
            </a:r>
          </a:p>
          <a:p>
            <a:pPr algn="l">
              <a:lnSpc>
                <a:spcPct val="105000"/>
              </a:lnSpc>
              <a:buNone/>
            </a:pPr>
            <a:r>
              <a:rPr sz="10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In-Flight raus, Cursor hoch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04807" y="3392424"/>
            <a:ext cx="0" cy="164592"/>
          </a:xfrm>
          <a:prstGeom prst="line">
            <a:avLst/>
          </a:prstGeom>
          <a:ln w="15875">
            <a:solidFill>
              <a:srgbClr val="6E73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58000" y="3557016"/>
            <a:ext cx="4693615" cy="548640"/>
          </a:xfrm>
          <a:prstGeom prst="roundRect">
            <a:avLst>
              <a:gd name="adj" fmla="val 15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5000"/>
              </a:lnSpc>
              <a:buNone/>
            </a:pPr>
            <a:r>
              <a:rPr sz="13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pages.save(PageEntity)</a:t>
            </a:r>
          </a:p>
          <a:p>
            <a:pPr algn="l">
              <a:lnSpc>
                <a:spcPct val="105000"/>
              </a:lnSpc>
              <a:buNone/>
            </a:pPr>
            <a:r>
              <a:rPr sz="10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JPA → Postgres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04807" y="4105656"/>
            <a:ext cx="0" cy="164592"/>
          </a:xfrm>
          <a:prstGeom prst="line">
            <a:avLst/>
          </a:prstGeom>
          <a:ln w="15875">
            <a:solidFill>
              <a:srgbClr val="6E73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0" y="4270248"/>
            <a:ext cx="4693615" cy="548640"/>
          </a:xfrm>
          <a:prstGeom prst="roundRect">
            <a:avLst>
              <a:gd name="adj" fmla="val 15000"/>
            </a:avLst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5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offerLinks(depth, links)</a:t>
            </a:r>
          </a:p>
          <a:p>
            <a:pPr algn="l">
              <a:lnSpc>
                <a:spcPct val="105000"/>
              </a:lnSpc>
              <a:buNone/>
            </a:pPr>
            <a:r>
              <a:rPr sz="100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visited.add() – first one wins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04807" y="4818888"/>
            <a:ext cx="0" cy="164592"/>
          </a:xfrm>
          <a:prstGeom prst="line">
            <a:avLst/>
          </a:prstGeom>
          <a:ln w="15875">
            <a:solidFill>
              <a:srgbClr val="6E73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0" y="4983480"/>
            <a:ext cx="4693615" cy="548640"/>
          </a:xfrm>
          <a:prstGeom prst="roundRect">
            <a:avLst>
              <a:gd name="adj" fmla="val 15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5000"/>
              </a:lnSpc>
              <a:buNone/>
            </a:pPr>
            <a:r>
              <a:rPr sz="13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isFinished() → COMPLETED</a:t>
            </a:r>
          </a:p>
          <a:p>
            <a:pPr algn="l">
              <a:lnSpc>
                <a:spcPct val="105000"/>
              </a:lnSpc>
              <a:buNone/>
            </a:pPr>
            <a:r>
              <a:rPr sz="10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Frontier leer und nichts in flight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696712"/>
            <a:ext cx="4693615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Pfad eines Ergebnisses in ResultService.handle()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1234440"/>
          </a:xfrm>
          <a:prstGeom prst="rect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8016" cy="201168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5 · CODE-DETAILS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Worker: Plain Java, Thread-Pool, Pause-Warteschleife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11535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worker/…/WorkerClient · CrawlTask · pool/CrawlExecutor · crawler/PageFetcher · crawler/HtmlExtractor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Tausendfüßler · EVA SS26 · Universität Leipzig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852160" cy="475488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 marL="195580" indent="-19558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Kein Spring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: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java -jar worker.jar --coordinator host:9090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, Start in unter 1 s</a:t>
            </a:r>
          </a:p>
          <a:p>
            <a:pPr algn="l" marL="195580" indent="-19558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CrawlExecutor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: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Executors.newFixedThreadPool(Kerne)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;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submit()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liefert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CompletableFuture&lt;CrawlOutcome&gt;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(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CrawlSuccess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|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CrawlFailure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, sealed)</a:t>
            </a:r>
          </a:p>
          <a:p>
            <a:pPr algn="l" marL="195580" indent="-19558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WorkerClient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: Main-Schleife sendet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REQUEST_WORK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mit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threads − inFlight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freien Slots, höchstens eine offene Anfrage; eigener Reader-Thread verarbeitet die Antworten</a:t>
            </a:r>
          </a:p>
          <a:p>
            <a:pPr algn="l" marL="195580" indent="-19558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CrawlTask.awaitPermission()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: prüft vor jedem Abruf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jobControl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(ConcurrentHashMap Job → Signal); bei PAUSE Warteschleife (200 ms), bei ABORT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CancellationException</a:t>
            </a:r>
          </a:p>
          <a:p>
            <a:pPr algn="l" marL="195580" indent="-19558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PageFetcher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(java.net.http, 10 s Timeout, folgt Redirects) + </a:t>
            </a: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HtmlExtractor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(jsoup: Titel, Text, Links, Sitemap-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&lt;loc&gt;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); relative Links werden gegen die </a:t>
            </a: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finale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URL aufgelöst</a:t>
            </a:r>
          </a:p>
          <a:p>
            <a:pPr algn="l" marL="195580" indent="-19558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Reconnect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mit Backoff 1 s → 10 s; laufende Tasks werden bei Verbindungsverlust verworfen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417320"/>
            <a:ext cx="4693615" cy="4572000"/>
          </a:xfrm>
          <a:prstGeom prst="roundRect">
            <a:avLst>
              <a:gd name="adj" fmla="val 3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527048"/>
            <a:ext cx="4144975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Threads in einem Worker-Prozess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874520"/>
            <a:ext cx="4144975" cy="594360"/>
          </a:xfrm>
          <a:prstGeom prst="roundRect">
            <a:avLst>
              <a:gd name="adj" fmla="val 15000"/>
            </a:avLst>
          </a:prstGeom>
          <a:solidFill>
            <a:srgbClr val="26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main: runSession()</a:t>
            </a:r>
          </a:p>
          <a:p>
            <a:pPr algn="ctr">
              <a:lnSpc>
                <a:spcPct val="105000"/>
              </a:lnSpc>
              <a:buNone/>
            </a:pPr>
            <a:r>
              <a:rPr sz="100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REQUEST_WORK, wait/notify-Wakeup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606040"/>
            <a:ext cx="4144975" cy="594360"/>
          </a:xfrm>
          <a:prstGeom prst="roundRect">
            <a:avLst>
              <a:gd name="adj" fmla="val 15000"/>
            </a:avLst>
          </a:prstGeom>
          <a:solidFill>
            <a:srgbClr val="26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coordinator-reader</a:t>
            </a:r>
          </a:p>
          <a:p>
            <a:pPr algn="ctr">
              <a:lnSpc>
                <a:spcPct val="105000"/>
              </a:lnSpc>
              <a:buNone/>
            </a:pPr>
            <a:r>
              <a:rPr sz="100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readLoop → handle(): WORK_PACKAGE, JOB_SIGNAL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474720"/>
            <a:ext cx="1308506" cy="822960"/>
          </a:xfrm>
          <a:prstGeom prst="roundRect">
            <a:avLst>
              <a:gd name="adj" fmla="val 13333"/>
            </a:avLst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pool-1</a:t>
            </a:r>
          </a:p>
          <a:p>
            <a:pPr algn="ctr">
              <a:lnSpc>
                <a:spcPct val="105000"/>
              </a:lnSpc>
              <a:buNone/>
            </a:pPr>
            <a:r>
              <a:rPr sz="90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fetch → extract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13978" y="3474720"/>
            <a:ext cx="1308506" cy="822960"/>
          </a:xfrm>
          <a:prstGeom prst="roundRect">
            <a:avLst>
              <a:gd name="adj" fmla="val 13333"/>
            </a:avLst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pool-2</a:t>
            </a:r>
          </a:p>
          <a:p>
            <a:pPr algn="ctr">
              <a:lnSpc>
                <a:spcPct val="105000"/>
              </a:lnSpc>
              <a:buNone/>
            </a:pPr>
            <a:r>
              <a:rPr sz="90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fetch → extract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95636" y="3474720"/>
            <a:ext cx="1308506" cy="822960"/>
          </a:xfrm>
          <a:prstGeom prst="roundRect">
            <a:avLst>
              <a:gd name="adj" fmla="val 13333"/>
            </a:avLst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pool-3</a:t>
            </a:r>
          </a:p>
          <a:p>
            <a:pPr algn="ctr">
              <a:lnSpc>
                <a:spcPct val="105000"/>
              </a:lnSpc>
              <a:buNone/>
            </a:pPr>
            <a:r>
              <a:rPr sz="90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fetch → extract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389120"/>
            <a:ext cx="4144975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ein Crawl-Thread je CPU-Kern (availableProcessors)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4800600"/>
            <a:ext cx="4144975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2700">
            <a:solidFill>
              <a:srgbClr val="6E7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  <a:buNone/>
            </a:pPr>
            <a:r>
              <a:rPr sz="13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whenComplete → PAGE_RESULT</a:t>
            </a:r>
          </a:p>
          <a:p>
            <a:pPr algn="ctr">
              <a:lnSpc>
                <a:spcPct val="105000"/>
              </a:lnSpc>
              <a:buNone/>
            </a:pPr>
            <a:r>
              <a:rPr sz="10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inFlight − 1, Wakeup der Main-Schleife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1234440"/>
          </a:xfrm>
          <a:prstGeom prst="rect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8016" cy="201168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5 · CODE-DETAILS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Bot: Long Polling, Command-Registry, Ergebnis-Poller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11535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bot/…/TausflerBot · config/CommandRegistry · commands/*CommandHandler · service/ResultPoller · CoordinatorClient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Tausendfüßler · EVA SS26 · Universität Leipzig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852160" cy="475488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 marL="195580" indent="-19558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TausflerBot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erbt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TelegramLongPollingBot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: Updates kommen per Long Polling, kein eingehender Port nötig</a:t>
            </a:r>
          </a:p>
          <a:p>
            <a:pPr algn="l" marL="195580" indent="-19558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CommandRegistry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: alle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CommandHandler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-Beans werden per DI injiziert; Klassenname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CrawlCommandHandler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→ Befehl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/crawl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(Konvention statt Konfiguration)</a:t>
            </a:r>
          </a:p>
          <a:p>
            <a:pPr algn="l" marL="195580" indent="-19558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CoordinatorClient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kapselt die REST-Aufrufe (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RestClient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) und übersetzt 400/404/409 in lesbare Chat-Meldungen</a:t>
            </a:r>
          </a:p>
          <a:p>
            <a:pPr algn="l" marL="195580" indent="-19558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ResultPoller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(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@Scheduled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alle 1 s): Map Job → (chatId,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lastSeq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); holt </a:t>
            </a:r>
            <a:r>
              <a:rPr sz="13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results?afterSeq=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seitenweise und bündelt mehrere Seiten je Telegram-Nachricht (Rate-Limit ≈ 1 Nachricht/s pro Chat)</a:t>
            </a:r>
          </a:p>
          <a:p>
            <a:pPr algn="l" marL="195580" indent="-19558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Status </a:t>
            </a:r>
            <a:r>
              <a:rPr sz="14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vor</a:t>
            </a: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den Ergebnissen abfragen: ist der Job terminal, sind alle Seiten bis dahin garantiert ausgeliefert – dann Report senden und abbestellen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0" y="1417320"/>
          <a:ext cx="4693614" cy="2926080"/>
        </p:xfrm>
        <a:graphic>
          <a:graphicData uri="http://schemas.openxmlformats.org/drawingml/2006/table">
            <a:tbl>
              <a:tblPr firstRow="0" bandRow="0"/>
              <a:tblGrid>
                <a:gridCol w="2133461"/>
                <a:gridCol w="2560153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Befehl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Handler → REST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/crawl url tiefe [filter]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POST /api/jobs, dann subscribe()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/list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GET /api/jobs?owner=chatId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/status 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GET /api/jobs/{id}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/pause · /resume · /abort id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POST /api/jobs/{id}/…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/search text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GET /api/search?q=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/stats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GET /api/stats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/help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CommandRegistry.getAllCommands()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0" y="4526280"/>
            <a:ext cx="4693615" cy="45720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Job-IDs dürfen als Präfix angegeben werden (z. B. die ersten 4 Zeichen).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1234440"/>
          </a:xfrm>
          <a:prstGeom prst="rect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8016" cy="201168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5 · CODE-DETAILS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Nebenläufigkeit und Verteilung auf einen Blick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Tausendfüßler · EVA SS26 · Universität Leipzig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417320"/>
          <a:ext cx="10911534" cy="4206240"/>
        </p:xfrm>
        <a:graphic>
          <a:graphicData uri="http://schemas.openxmlformats.org/drawingml/2006/table">
            <a:tbl>
              <a:tblPr firstRow="0" bandRow="0"/>
              <a:tblGrid>
                <a:gridCol w="2639887"/>
                <a:gridCol w="4399812"/>
                <a:gridCol w="3871835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Mechanismus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Primitive / Technik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Klasse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Paralleles Crawlen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FixedThreadPool (n = Kerne), CompletableFuture-Verkettung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worker/pool/CrawlExecutor, CrawlTask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Ein Thread je Worker-Verbindung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CachedThreadPool + Accept-Thread, Read-Timeout 60 s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coordinator/socket/WorkerSocketServer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URL-Dedup, atomar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ConcurrentHashMap.newKeySet().add() – „first one wins“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coordinator/crawl/JobRuntime.offerLinks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Frontier und In-Flight konsistent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synchronized-Methoden auf dem JobRuntime-Monitor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JobRuntime.takeWork / complete / requeue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Status-Übergang ohne Lost Update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synchronized (runtime) um load-update-save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service/JobService.underRuntimeLock, ResultService.handle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Pause / Abort im Worker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ConcurrentHashMap&lt;Job, Signal&gt;, volatile Flags, wait/notify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worker/CrawlTask.awaitPermission, WorkerClient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Live-Stream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AtomicLong seq je Job, @Scheduled-Poller mit Cursor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JobRuntime.nextSeq, bot/service/ResultPoller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Absturz-Recovery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EOF / Timeout im Handler ⇒ requeue aller In-Flight-URLs des Workers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WorkerConnectionHandler, JobRuntime.requeue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Verteilung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TCP-Sockets (line-delimited JSON) · REST (Spring MVC) · JPA / Postgres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common/protocol, coordinator/api, persistence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1234440"/>
          </a:xfrm>
          <a:prstGeom prst="rect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8016" cy="201168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3 · ENTWICKLUNGSPROZESS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Entwicklungsprozess und Aufgabenteilung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11535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Zeitachse aus dem Git-Log (2026): zuerst drei getrennte Repositories, am Ende ein Multimodul-Build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Tausendfüßler · EVA SS26 · Universität Leipzig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" y="2468880"/>
            <a:ext cx="10180015" cy="0"/>
          </a:xfrm>
          <a:prstGeom prst="line">
            <a:avLst/>
          </a:prstGeom>
          <a:ln w="19050">
            <a:solidFill>
              <a:srgbClr val="6E7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23544" y="2386584"/>
            <a:ext cx="164592" cy="164592"/>
          </a:xfrm>
          <a:prstGeom prst="ellipse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2286000" cy="868680"/>
          </a:xfrm>
          <a:prstGeom prst="rect">
            <a:avLst/>
          </a:prstGeom>
          <a:noFill/>
        </p:spPr>
        <p:txBody>
          <a:bodyPr wrap="square" anchor="b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07.05.</a:t>
            </a: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Thema und erster Plan</a:t>
            </a:r>
          </a:p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Luca</a:t>
            </a:r>
          </a:p>
        </p:txBody>
      </p:sp>
      <p:sp>
        <p:nvSpPr>
          <p:cNvPr id="13" name="Oval 12"/>
          <p:cNvSpPr/>
          <p:nvPr/>
        </p:nvSpPr>
        <p:spPr>
          <a:xfrm>
            <a:off x="2959547" y="2386584"/>
            <a:ext cx="164592" cy="164592"/>
          </a:xfrm>
          <a:prstGeom prst="ellipse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98843" y="2606040"/>
            <a:ext cx="2286000" cy="86868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28.05.</a:t>
            </a: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Worker-Crawl-Kern: Fetch, jsoup, Thread-Pool, Tests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Kanan</a:t>
            </a:r>
          </a:p>
        </p:txBody>
      </p:sp>
      <p:sp>
        <p:nvSpPr>
          <p:cNvPr id="15" name="Oval 14"/>
          <p:cNvSpPr/>
          <p:nvPr/>
        </p:nvSpPr>
        <p:spPr>
          <a:xfrm>
            <a:off x="4995550" y="2386584"/>
            <a:ext cx="164592" cy="164592"/>
          </a:xfrm>
          <a:prstGeom prst="ellipse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4846" y="1463040"/>
            <a:ext cx="2286000" cy="868680"/>
          </a:xfrm>
          <a:prstGeom prst="rect">
            <a:avLst/>
          </a:prstGeom>
          <a:noFill/>
        </p:spPr>
        <p:txBody>
          <a:bodyPr wrap="square" anchor="b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05.07.</a:t>
            </a: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Skizze v2 · Lasttest im Worker</a:t>
            </a:r>
          </a:p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Kanan, Team</a:t>
            </a:r>
          </a:p>
        </p:txBody>
      </p:sp>
      <p:sp>
        <p:nvSpPr>
          <p:cNvPr id="17" name="Oval 16"/>
          <p:cNvSpPr/>
          <p:nvPr/>
        </p:nvSpPr>
        <p:spPr>
          <a:xfrm>
            <a:off x="7336953" y="2386584"/>
            <a:ext cx="164592" cy="164592"/>
          </a:xfrm>
          <a:prstGeom prst="ellipse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6249" y="2606040"/>
            <a:ext cx="2286000" cy="86868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08.–27.08.</a:t>
            </a: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Bot: Handler, Registry, Poller, DTOs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TODO: Name (Git „debian“)</a:t>
            </a:r>
          </a:p>
        </p:txBody>
      </p:sp>
      <p:sp>
        <p:nvSpPr>
          <p:cNvPr id="19" name="Oval 18"/>
          <p:cNvSpPr/>
          <p:nvPr/>
        </p:nvSpPr>
        <p:spPr>
          <a:xfrm>
            <a:off x="10085557" y="2386584"/>
            <a:ext cx="164592" cy="164592"/>
          </a:xfrm>
          <a:prstGeom prst="ellipse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4853" y="1463040"/>
            <a:ext cx="2286000" cy="868680"/>
          </a:xfrm>
          <a:prstGeom prst="rect">
            <a:avLst/>
          </a:prstGeom>
          <a:noFill/>
        </p:spPr>
        <p:txBody>
          <a:bodyPr wrap="square" anchor="b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29.08.</a:t>
            </a: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Konsolidierung, Koordinator, Protokoll, Integration, Lasttest, Livetest</a:t>
            </a:r>
          </a:p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Luca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57600"/>
            <a:ext cx="3454298" cy="2468880"/>
          </a:xfrm>
          <a:prstGeom prst="roundRect">
            <a:avLst>
              <a:gd name="adj" fmla="val 5555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657600"/>
            <a:ext cx="82296" cy="2468880"/>
          </a:xfrm>
          <a:prstGeom prst="rect">
            <a:avLst/>
          </a:prstGeom>
          <a:solidFill>
            <a:srgbClr val="8A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749040"/>
            <a:ext cx="3179978" cy="36576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Kanan Namazov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96512"/>
            <a:ext cx="3179978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Worker-Crawl-Kern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462272"/>
            <a:ext cx="3179978" cy="160020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 marL="153670" indent="-153670">
              <a:lnSpc>
                <a:spcPct val="112000"/>
              </a:lnSpc>
              <a:spcAft>
                <a:spcPts val="300"/>
              </a:spcAft>
              <a:buClr>
                <a:srgbClr val="B02F2C"/>
              </a:buClr>
              <a:buFont typeface="Arial"/>
              <a:buChar char="–"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PageFetcher (java.net.http), HtmlExtractor (jsoup)</a:t>
            </a:r>
          </a:p>
          <a:p>
            <a:pPr algn="l" marL="153670" indent="-153670">
              <a:lnSpc>
                <a:spcPct val="112000"/>
              </a:lnSpc>
              <a:spcAft>
                <a:spcPts val="300"/>
              </a:spcAft>
              <a:buClr>
                <a:srgbClr val="B02F2C"/>
              </a:buClr>
              <a:buFont typeface="Arial"/>
              <a:buChar char="–"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CrawlExecutor mit Thread-Pool und Futures</a:t>
            </a:r>
          </a:p>
          <a:p>
            <a:pPr algn="l" marL="153670" indent="-153670">
              <a:lnSpc>
                <a:spcPct val="112000"/>
              </a:lnSpc>
              <a:spcAft>
                <a:spcPts val="300"/>
              </a:spcAft>
              <a:buClr>
                <a:srgbClr val="B02F2C"/>
              </a:buClr>
              <a:buFont typeface="Arial"/>
              <a:buChar char="–"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Unit- und Integrationstests inkl. Lasttest (100 URLs / 4 Threads)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8698" y="3657600"/>
            <a:ext cx="3454298" cy="2468880"/>
          </a:xfrm>
          <a:prstGeom prst="roundRect">
            <a:avLst>
              <a:gd name="adj" fmla="val 5555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8698" y="3657600"/>
            <a:ext cx="82296" cy="2468880"/>
          </a:xfrm>
          <a:prstGeom prst="rect">
            <a:avLst/>
          </a:prstGeom>
          <a:solidFill>
            <a:srgbClr val="8A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1578" y="3749040"/>
            <a:ext cx="3179978" cy="36576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&lt;TODO: Name eintragen&gt;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1578" y="4096512"/>
            <a:ext cx="3179978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Telegram-Bot (Git-Autor „debian“)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1578" y="4462272"/>
            <a:ext cx="3179978" cy="160020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 marL="153670" indent="-153670">
              <a:lnSpc>
                <a:spcPct val="112000"/>
              </a:lnSpc>
              <a:spcAft>
                <a:spcPts val="300"/>
              </a:spcAft>
              <a:buClr>
                <a:srgbClr val="B02F2C"/>
              </a:buClr>
              <a:buFont typeface="Arial"/>
              <a:buChar char="–"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TausflerBot, CommandRegistry, alle CommandHandler</a:t>
            </a:r>
          </a:p>
          <a:p>
            <a:pPr algn="l" marL="153670" indent="-153670">
              <a:lnSpc>
                <a:spcPct val="112000"/>
              </a:lnSpc>
              <a:spcAft>
                <a:spcPts val="300"/>
              </a:spcAft>
              <a:buClr>
                <a:srgbClr val="B02F2C"/>
              </a:buClr>
              <a:buFont typeface="Arial"/>
              <a:buChar char="–"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DTOs, CoordinatorClient, MessageSender</a:t>
            </a:r>
          </a:p>
          <a:p>
            <a:pPr algn="l" marL="153670" indent="-153670">
              <a:lnSpc>
                <a:spcPct val="112000"/>
              </a:lnSpc>
              <a:spcAft>
                <a:spcPts val="300"/>
              </a:spcAft>
              <a:buClr>
                <a:srgbClr val="B02F2C"/>
              </a:buClr>
              <a:buFont typeface="Arial"/>
              <a:buChar char="–"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ResultPoller mit Live-Stream (erste Fassung)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7316" y="3657600"/>
            <a:ext cx="3454298" cy="2468880"/>
          </a:xfrm>
          <a:prstGeom prst="roundRect">
            <a:avLst>
              <a:gd name="adj" fmla="val 5555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7316" y="3657600"/>
            <a:ext cx="82296" cy="2468880"/>
          </a:xfrm>
          <a:prstGeom prst="rect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0196" y="3749040"/>
            <a:ext cx="3179978" cy="36576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Luca Wegner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0196" y="4096512"/>
            <a:ext cx="3179978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Koordinator, Protokoll,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0196" y="4462272"/>
            <a:ext cx="3179978" cy="160020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 marL="153670" indent="-153670">
              <a:lnSpc>
                <a:spcPct val="112000"/>
              </a:lnSpc>
              <a:spcAft>
                <a:spcPts val="300"/>
              </a:spcAft>
              <a:buClr>
                <a:srgbClr val="B02F2C"/>
              </a:buClr>
              <a:buFont typeface="Arial"/>
              <a:buChar char="–"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JobRuntime, Scheduler, TCP-Server, REST-API, JPA, Suche</a:t>
            </a:r>
          </a:p>
          <a:p>
            <a:pPr algn="l" marL="153670" indent="-153670">
              <a:lnSpc>
                <a:spcPct val="112000"/>
              </a:lnSpc>
              <a:spcAft>
                <a:spcPts val="300"/>
              </a:spcAft>
              <a:buClr>
                <a:srgbClr val="B02F2C"/>
              </a:buClr>
              <a:buFont typeface="Arial"/>
              <a:buChar char="–"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Worker-Socket-Schleife, Pause/Abort, Reconnect</a:t>
            </a:r>
          </a:p>
          <a:p>
            <a:pPr algn="l" marL="153670" indent="-153670">
              <a:lnSpc>
                <a:spcPct val="112000"/>
              </a:lnSpc>
              <a:spcAft>
                <a:spcPts val="300"/>
              </a:spcAft>
              <a:buClr>
                <a:srgbClr val="B02F2C"/>
              </a:buClr>
              <a:buFont typeface="Arial"/>
              <a:buChar char="–"/>
            </a:pPr>
            <a:r>
              <a:rPr sz="11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End-to-End-Test, Lasttest-Modul, NFA-Report, Fixes – mit KI-Tooling (Claude Code, Codex)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1234440"/>
          </a:xfrm>
          <a:prstGeom prst="rect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8016" cy="201168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2 · AUFBAU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NFA-Ergebnisse: gemessen, nicht geschätzt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11535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loadtest-Modul (Plain Java) gegen Koordinator + Postgres 16, Lauf vom 29.08.2026 · docs/NFA-Report.md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Tausendfüßler · EVA SS26 · Universität Leipzig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417320"/>
          <a:ext cx="10911533" cy="3456432"/>
        </p:xfrm>
        <a:graphic>
          <a:graphicData uri="http://schemas.openxmlformats.org/drawingml/2006/table">
            <a:tbl>
              <a:tblPr firstRow="0" bandRow="0"/>
              <a:tblGrid>
                <a:gridCol w="2639887"/>
                <a:gridCol w="1143951"/>
                <a:gridCol w="3695842"/>
                <a:gridCol w="3431853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NFA (aus der Skizze)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Grenzwert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Messwert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Szenario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Koordinator startbereit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&lt; 15 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3,4 s (JVM-Start → ApplicationReady)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/api/health startupSeconds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Statusabfrage bei 20 Aufträgen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&lt; 0,2 s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p50 7 ms · p95 13 ms · max 98 ms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300 Abfragen, 0 Überschreitungen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Anteil ohne internen Fehler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&gt; 99,9 %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100 % (0 × 5xx bei 1 200 Anfragen)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60 s Mix gültig/ungültig, 654 × 4xx erwartet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Durchsatz 2 vs. 1 Worker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≥ +60 %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+92 % (20,5 → 39,2 Seiten/s)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600 Seiten, 100 ms Abrufzeit, 4 Threads je Worker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Live-Ergebnis nach Abruf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&lt; 2 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p50 254 ms · p95 507 ms · max 517 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125 Seiten, Poll-Intervall 500 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URL-Dedup atomar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0 Duplikate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342 Seiten, 0 doppelt bei 18 076 gemeldeten Links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500 Seiten, 50 gemeinsame Hubs, 2 Worker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Thread-Pool vollständig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100 / 100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exakt 100 CrawlOutcomes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CrawlExecutorTest (JUnit)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Mehrkernauslastung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&gt; 1 Thread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3 Handler-Threads (1 130 / 537 / 309 Ergebnisse)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Thread-IDs in den Logs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440680"/>
            <a:ext cx="10911535" cy="68580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2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Ehrlicher Befund: ohne Netzlatenz (0 ms Abrufzeit) nur +28 % (87 → 112 Seiten/s), weil der Koordinator die Ergebnisse je Job serialisiert und pro Seite synchron in die DB schreibt – siehe Verbesserungspotenzial.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1234440"/>
          </a:xfrm>
          <a:prstGeom prst="rect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8016" cy="201168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4 ·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Demo-Ablauf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11535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Live über Telegram; Backup: Screenshots und Logs aus dem Livetest vom 29.08.2026 (logs/)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Tausendfüßler · EVA SS26 · Universität Leipzig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502920" cy="685800"/>
          </a:xfrm>
          <a:prstGeom prst="roundRect">
            <a:avLst>
              <a:gd name="adj" fmla="val 15000"/>
            </a:avLst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  <a:buNone/>
            </a:pPr>
            <a:r>
              <a:rPr sz="1800" b="1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399032"/>
            <a:ext cx="5394960" cy="7772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Stack starten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docker compose up · coordinator.jar · 2 × worker.jar · bot.jar – Log zeigt Start in ≈ 3 s und zwei REGISTER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13432"/>
            <a:ext cx="502920" cy="685800"/>
          </a:xfrm>
          <a:prstGeom prst="roundRect">
            <a:avLst>
              <a:gd name="adj" fmla="val 15000"/>
            </a:avLst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  <a:buNone/>
            </a:pPr>
            <a:r>
              <a:rPr sz="1800" b="1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295144"/>
            <a:ext cx="5394960" cy="7772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/crawl &lt;Sitemap-URL&gt; 1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Live-Stream läuft im Chat; im Koordinator-Log gehen Pakete an beide Worker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09544"/>
            <a:ext cx="502920" cy="685800"/>
          </a:xfrm>
          <a:prstGeom prst="roundRect">
            <a:avLst>
              <a:gd name="adj" fmla="val 15000"/>
            </a:avLst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  <a:buNone/>
            </a:pPr>
            <a:r>
              <a:rPr sz="1800" b="1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91256"/>
            <a:ext cx="5394960" cy="7772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/pause · /status · /resume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Worker stoppen nach den laufenden Abrufen; Status PAUSED; danach geht es weiter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05656"/>
            <a:ext cx="502920" cy="685800"/>
          </a:xfrm>
          <a:prstGeom prst="roundRect">
            <a:avLst>
              <a:gd name="adj" fmla="val 15000"/>
            </a:avLst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  <a:buNone/>
            </a:pPr>
            <a:r>
              <a:rPr sz="1800" b="1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087368"/>
            <a:ext cx="5394960" cy="7772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Worker-Prozess beenden (kill)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Handler erkennt EOF, URLs werden neu verteilt, Job läuft mit einem Worker zu Ende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01768"/>
            <a:ext cx="502920" cy="685800"/>
          </a:xfrm>
          <a:prstGeom prst="roundRect">
            <a:avLst>
              <a:gd name="adj" fmla="val 15000"/>
            </a:avLst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  <a:buNone/>
            </a:pPr>
            <a:r>
              <a:rPr sz="1800" b="1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83480"/>
            <a:ext cx="5394960" cy="7772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/abort auf einem zweiten Job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Ergebnisse bleiben erhalten – /search und /stats zeigen sie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1417320"/>
            <a:ext cx="4419295" cy="4480560"/>
          </a:xfrm>
          <a:prstGeom prst="roundRect">
            <a:avLst>
              <a:gd name="adj" fmla="val 3103"/>
            </a:avLst>
          </a:prstGeom>
          <a:solidFill>
            <a:srgbClr val="E3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554480"/>
            <a:ext cx="3962095" cy="42062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 marL="181610" indent="-18161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3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Fallback, wenn Netz oder Telegram streiken</a:t>
            </a:r>
          </a:p>
          <a:p>
            <a:pPr algn="l" marL="181610" indent="-18161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3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Screenshots des Livetests (437 Seiten, alle Befehle) – TODO: in docs/presentation/ ablegen</a:t>
            </a:r>
          </a:p>
          <a:p>
            <a:pPr algn="l" marL="181610" indent="-18161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2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logs/coordinator.out</a:t>
            </a:r>
            <a:r>
              <a:rPr sz="13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, </a:t>
            </a:r>
            <a:r>
              <a:rPr sz="12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logs/worker1.out</a:t>
            </a:r>
            <a:r>
              <a:rPr sz="13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, </a:t>
            </a:r>
            <a:r>
              <a:rPr sz="12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logs/bot.out</a:t>
            </a:r>
            <a:r>
              <a:rPr sz="13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aus demselben Lauf</a:t>
            </a:r>
          </a:p>
          <a:p>
            <a:pPr algn="l" marL="181610" indent="-18161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2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mvn test</a:t>
            </a:r>
            <a:r>
              <a:rPr sz="13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mit </a:t>
            </a:r>
            <a:r>
              <a:rPr sz="12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EndToEndTest</a:t>
            </a:r>
            <a:r>
              <a:rPr sz="13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: REST → Koordinator → 2 echte Worker → lokale Test-Site → H2</a:t>
            </a:r>
          </a:p>
          <a:p>
            <a:pPr algn="l" marL="181610" indent="-181610">
              <a:lnSpc>
                <a:spcPct val="112000"/>
              </a:lnSpc>
              <a:spcAft>
                <a:spcPts val="800"/>
              </a:spcAft>
              <a:buClr>
                <a:srgbClr val="B02F2C"/>
              </a:buClr>
              <a:buFont typeface="Arial"/>
              <a:buChar char="–"/>
            </a:pPr>
            <a:r>
              <a:rPr sz="13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Vorbereitung</a:t>
            </a:r>
            <a:r>
              <a:rPr sz="13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: </a:t>
            </a:r>
            <a:r>
              <a:rPr sz="1200" b="0" i="0">
                <a:solidFill>
                  <a:srgbClr val="262A31"/>
                </a:solidFill>
                <a:latin typeface="Menlo"/>
                <a:ea typeface="Menlo"/>
                <a:cs typeface="Menlo"/>
              </a:rPr>
              <a:t>.env</a:t>
            </a:r>
            <a:r>
              <a:rPr sz="13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 mit Bot-Token, Postgres auf Port 5433, Telegram-Chat auf dem Beamer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1234440"/>
          </a:xfrm>
          <a:prstGeom prst="rect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8016" cy="201168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RÜCKBLICK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Probleme und Hürden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Tausendfüßler · EVA SS26 · Universität Leipzig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417320"/>
          <a:ext cx="10911534" cy="3200400"/>
        </p:xfrm>
        <a:graphic>
          <a:graphicData uri="http://schemas.openxmlformats.org/drawingml/2006/table">
            <a:tbl>
              <a:tblPr firstRow="0" bandRow="0"/>
              <a:tblGrid>
                <a:gridCol w="2146531"/>
                <a:gridCol w="5008573"/>
                <a:gridCol w="375643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Hürde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Was passiert ist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Futura"/>
                          <a:ea typeface="Futura"/>
                          <a:cs typeface="Futura"/>
                        </a:rPr>
                        <a:t>Lösung</a:t>
                      </a:r>
                    </a:p>
                  </a:txBody>
                  <a:tcPr marL="73152" marR="73152" marT="36576" marB="36576" anchor="ctr">
                    <a:solidFill>
                      <a:srgbClr val="B02F2C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Zwei konkurrierende Entwürfe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Worker- und Bot-Repo entstanden unabhängig, mit eigenen DTOs und Annahmen (Bot erwartete REST, Skizze sagte Socket)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Konsolidierung in ein Multimodul-Repo, PROTOCOL.md als Vertrag, Modul common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Lost Update beim Job-Status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/pause und ein gleichzeitiges PAGE_RESULT schrieben dieselbe Zeile per load-update-save – der neue Status ging verloren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Beide Pfade unter dem Monitor des JobRuntime (JobService.underRuntimeLock)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Worker forderte zu viel 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Jede fertige Seite löste ein neues REQUEST_WORK aus – ein Worker bekam mehr URLs als Threads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Höchstens eine offene Anfrage; Kapazität = Threads − inFlight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Redirects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Relative Links wurden gegen die angeforderte statt der finalen URL aufgelöst – falsche Ziele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FetchResult.finalUrl aus HttpResponse.uri()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Telegram-Rate-Limit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Eine Nachricht je Seite lief in „429 Too Many Requests“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Seiten je Poll-Runde bündeln, Nachrichtenlänge begrenzen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Infrastruktur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Lokales Homebrew-Postgres blockierte Port 5432; ddl-auto konnte eine neue NOT-NULL-Spalte nicht anlegen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62A31"/>
                          </a:solidFill>
                          <a:latin typeface="Futura"/>
                          <a:ea typeface="Futura"/>
                          <a:cs typeface="Futura"/>
                        </a:rPr>
                        <a:t>Compose auf Port 5433; Spaltendefault in JobEntity</a:t>
                      </a:r>
                    </a:p>
                  </a:txBody>
                  <a:tcPr marL="73152" marR="73152" marT="36576" marB="36576" anchor="ctr">
                    <a:solidFill>
                      <a:srgbClr val="F2F3F4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BDE"/>
                      </a:solidFill>
                    </a:lnT>
                    <a:lnB w="6350">
                      <a:solidFill>
                        <a:srgbClr val="D9DBD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1234440"/>
          </a:xfrm>
          <a:prstGeom prst="rect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8016" cy="201168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AUSBLICK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Verbesserungspotenzial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Tausendfüßler · EVA SS26 · Universität Leipzig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5227167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Leistung und Skalierung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5227167" cy="43891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 marL="195580" indent="-195580">
              <a:lnSpc>
                <a:spcPct val="112000"/>
              </a:lnSpc>
              <a:spcAft>
                <a:spcPts val="1000"/>
              </a:spcAft>
              <a:buClr>
                <a:srgbClr val="B02F2C"/>
              </a:buClr>
              <a:buFont typeface="Arial"/>
              <a:buChar char="–"/>
            </a:pP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Ergebnispfad im Koordinator entkoppeln: DB-Schreiben asynchron oder gebündelt statt synchron unter dem Job-Monitor (heute +28 % statt +92 % ohne Netzlatenz)</a:t>
            </a:r>
          </a:p>
          <a:p>
            <a:pPr algn="l" marL="195580" indent="-195580">
              <a:lnSpc>
                <a:spcPct val="112000"/>
              </a:lnSpc>
              <a:spcAft>
                <a:spcPts val="1000"/>
              </a:spcAft>
              <a:buClr>
                <a:srgbClr val="B02F2C"/>
              </a:buClr>
              <a:buFont typeface="Arial"/>
              <a:buChar char="–"/>
            </a:pP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Server-Sent Events oder WebSocket statt 1-s-Polling im Bot</a:t>
            </a:r>
          </a:p>
          <a:p>
            <a:pPr algn="l" marL="195580" indent="-195580">
              <a:lnSpc>
                <a:spcPct val="112000"/>
              </a:lnSpc>
              <a:spcAft>
                <a:spcPts val="1000"/>
              </a:spcAft>
              <a:buClr>
                <a:srgbClr val="B02F2C"/>
              </a:buClr>
              <a:buFont typeface="Arial"/>
              <a:buChar char="–"/>
            </a:pP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Expliziter Heartbeat statt 60 s Read-Timeout; robots.txt und Rate-Limit je Domain</a:t>
            </a:r>
          </a:p>
          <a:p>
            <a:pPr algn="l" marL="195580" indent="-195580">
              <a:lnSpc>
                <a:spcPct val="112000"/>
              </a:lnSpc>
              <a:spcAft>
                <a:spcPts val="1000"/>
              </a:spcAft>
              <a:buClr>
                <a:srgbClr val="B02F2C"/>
              </a:buClr>
              <a:buFont typeface="Arial"/>
              <a:buChar char="–"/>
            </a:pP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Frontier bei sehr großen Jobs in die DB auslagern (heute In-Memory)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1417320"/>
            <a:ext cx="5227167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Funktion und Struktur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783080"/>
            <a:ext cx="5227167" cy="43891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 marL="195580" indent="-195580">
              <a:lnSpc>
                <a:spcPct val="112000"/>
              </a:lnSpc>
              <a:spcAft>
                <a:spcPts val="1000"/>
              </a:spcAft>
              <a:buClr>
                <a:srgbClr val="B02F2C"/>
              </a:buClr>
              <a:buFont typeface="Arial"/>
              <a:buChar char="–"/>
            </a:pP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/search nur über eigene Jobs (Owner-Filter) und Ranking statt LIKE-/tsvector-Mix</a:t>
            </a:r>
          </a:p>
          <a:p>
            <a:pPr algn="l" marL="195580" indent="-195580">
              <a:lnSpc>
                <a:spcPct val="112000"/>
              </a:lnSpc>
              <a:spcAft>
                <a:spcPts val="1000"/>
              </a:spcAft>
              <a:buClr>
                <a:srgbClr val="B02F2C"/>
              </a:buClr>
              <a:buFont typeface="Arial"/>
              <a:buChar char="–"/>
            </a:pP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currentDepth als Frontier-Tiefe statt „höchste beantwortete Tiefe“</a:t>
            </a:r>
          </a:p>
          <a:p>
            <a:pPr algn="l" marL="195580" indent="-195580">
              <a:lnSpc>
                <a:spcPct val="112000"/>
              </a:lnSpc>
              <a:spcAft>
                <a:spcPts val="1000"/>
              </a:spcAft>
              <a:buClr>
                <a:srgbClr val="B02F2C"/>
              </a:buClr>
              <a:buFont typeface="Arial"/>
              <a:buChar char="–"/>
            </a:pP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JSON-Export je Job (aus der Skizze übernommen, noch offen)</a:t>
            </a:r>
          </a:p>
          <a:p>
            <a:pPr algn="l" marL="195580" indent="-195580">
              <a:lnSpc>
                <a:spcPct val="112000"/>
              </a:lnSpc>
              <a:spcAft>
                <a:spcPts val="1000"/>
              </a:spcAft>
              <a:buClr>
                <a:srgbClr val="B02F2C"/>
              </a:buClr>
              <a:buFont typeface="Arial"/>
              <a:buChar char="–"/>
            </a:pP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Bot-Handler mit gemeinsamer Basisklasse für das Argument-Parsing; Koordinator-Konfiguration über @ConfigurationProperties</a:t>
            </a:r>
          </a:p>
          <a:p>
            <a:pPr algn="l" marL="195580" indent="-195580">
              <a:lnSpc>
                <a:spcPct val="112000"/>
              </a:lnSpc>
              <a:spcAft>
                <a:spcPts val="1000"/>
              </a:spcAft>
              <a:buClr>
                <a:srgbClr val="B02F2C"/>
              </a:buClr>
              <a:buFont typeface="Arial"/>
              <a:buChar char="–"/>
            </a:pPr>
            <a:r>
              <a:rPr sz="14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Security bewusst ausgeklammert – ein Token je Chat wäre der nächste Schritt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1234440"/>
          </a:xfrm>
          <a:prstGeom prst="rect">
            <a:avLst/>
          </a:prstGeom>
          <a:solidFill>
            <a:srgbClr val="B0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8016" cy="201168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1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ABSCHLUSS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7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Zusammenfassung und Fragen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Tausendfüßler · EVA SS26 · Universität Leipzig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2522143" cy="1828800"/>
          </a:xfrm>
          <a:prstGeom prst="roundRect">
            <a:avLst>
              <a:gd name="adj" fmla="val 75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2339263" cy="64008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2522143" cy="82296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40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2522143" cy="36576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Prozesstypen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2522143" cy="45720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Bot · Koordinator · Worker · Postgres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6543" y="1417320"/>
            <a:ext cx="2522143" cy="1828800"/>
          </a:xfrm>
          <a:prstGeom prst="roundRect">
            <a:avLst>
              <a:gd name="adj" fmla="val 75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7983" y="1417320"/>
            <a:ext cx="2339263" cy="64008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6543" y="1645920"/>
            <a:ext cx="2522143" cy="82296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40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6543" y="2468880"/>
            <a:ext cx="2522143" cy="36576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Schnittstellen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6543" y="2788920"/>
            <a:ext cx="2522143" cy="45720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REST :8080 · TCP :9090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6" y="1417320"/>
            <a:ext cx="2522143" cy="1828800"/>
          </a:xfrm>
          <a:prstGeom prst="roundRect">
            <a:avLst>
              <a:gd name="adj" fmla="val 75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4446" y="1417320"/>
            <a:ext cx="2339263" cy="64008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3006" y="1645920"/>
            <a:ext cx="2522143" cy="82296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40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+92 %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3006" y="2468880"/>
            <a:ext cx="2522143" cy="36576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Durchsatz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3006" y="2788920"/>
            <a:ext cx="2522143" cy="45720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2 Worker gegenüber 1 Worker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9469" y="1417320"/>
            <a:ext cx="2522143" cy="1828800"/>
          </a:xfrm>
          <a:prstGeom prst="roundRect">
            <a:avLst>
              <a:gd name="adj" fmla="val 75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20909" y="1417320"/>
            <a:ext cx="2339263" cy="64008"/>
          </a:xfrm>
          <a:prstGeom prst="rect">
            <a:avLst/>
          </a:prstGeom>
          <a:solidFill>
            <a:srgbClr val="D8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9469" y="1645920"/>
            <a:ext cx="2522143" cy="82296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40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9469" y="2468880"/>
            <a:ext cx="2522143" cy="36576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Duplikate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9469" y="2788920"/>
            <a:ext cx="2522143" cy="45720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6E737A"/>
                </a:solidFill>
                <a:latin typeface="Futura"/>
                <a:ea typeface="Futura"/>
                <a:cs typeface="Futura"/>
              </a:rPr>
              <a:t>bei 18 076 gemeldeten Links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611880"/>
            <a:ext cx="10911535" cy="182880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 marL="209550" indent="-209550">
              <a:lnSpc>
                <a:spcPct val="112000"/>
              </a:lnSpc>
              <a:spcAft>
                <a:spcPts val="600"/>
              </a:spcAft>
              <a:buClr>
                <a:srgbClr val="B02F2C"/>
              </a:buClr>
              <a:buFont typeface="Arial"/>
              <a:buChar char="–"/>
            </a:pPr>
            <a:r>
              <a:rPr sz="15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Nebenläufig: Thread-Pools in Worker und Koordinator, atomare Dedup, Monitor je Job</a:t>
            </a:r>
          </a:p>
          <a:p>
            <a:pPr algn="l" marL="209550" indent="-209550">
              <a:lnSpc>
                <a:spcPct val="112000"/>
              </a:lnSpc>
              <a:spcAft>
                <a:spcPts val="600"/>
              </a:spcAft>
              <a:buClr>
                <a:srgbClr val="B02F2C"/>
              </a:buClr>
              <a:buFont typeface="Arial"/>
              <a:buChar char="–"/>
            </a:pPr>
            <a:r>
              <a:rPr sz="15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Verteilt: persistente TCP-Sockets mit zeilenweisem JSON, Worker auf beliebigen Rechnern</a:t>
            </a:r>
          </a:p>
          <a:p>
            <a:pPr algn="l" marL="209550" indent="-209550">
              <a:lnSpc>
                <a:spcPct val="112000"/>
              </a:lnSpc>
              <a:spcAft>
                <a:spcPts val="600"/>
              </a:spcAft>
              <a:buClr>
                <a:srgbClr val="B02F2C"/>
              </a:buClr>
              <a:buFont typeface="Arial"/>
              <a:buChar char="–"/>
            </a:pPr>
            <a:r>
              <a:rPr sz="15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Komponentenbasiert: Spring-Boot-REST-Koordinator, Spring-Boot-Bot mit DI, Plain-Java-Worker</a:t>
            </a:r>
          </a:p>
          <a:p>
            <a:pPr algn="l" marL="209550" indent="-209550">
              <a:lnSpc>
                <a:spcPct val="112000"/>
              </a:lnSpc>
              <a:spcAft>
                <a:spcPts val="600"/>
              </a:spcAft>
              <a:buClr>
                <a:srgbClr val="B02F2C"/>
              </a:buClr>
              <a:buFont typeface="Arial"/>
              <a:buChar char="–"/>
            </a:pPr>
            <a:r>
              <a:rPr sz="1500" b="0" i="0">
                <a:solidFill>
                  <a:srgbClr val="262A31"/>
                </a:solidFill>
                <a:latin typeface="Futura"/>
                <a:ea typeface="Futura"/>
                <a:cs typeface="Futura"/>
              </a:rPr>
              <a:t>Alle acht NFAs aus der Skizze gemessen und erfüllt; Livetest über Telegram mit 437 Seiten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B02F2C"/>
                </a:solidFill>
                <a:latin typeface="Futura"/>
                <a:ea typeface="Futura"/>
                <a:cs typeface="Futura"/>
              </a:rPr>
              <a:t>Fragen? – Code: README.md, PROTOCOL.md, docs/NFA-Report.md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Futur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